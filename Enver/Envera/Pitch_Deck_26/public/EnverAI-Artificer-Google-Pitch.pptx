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Amaan" userId="a8b21c8d22220733" providerId="LiveId" clId="{59A7FBF2-3DE9-4B30-BC43-C2099D3A45B0}"/>
    <pc:docChg chg="undo custSel modSld">
      <pc:chgData name="Shaikh Amaan" userId="a8b21c8d22220733" providerId="LiveId" clId="{59A7FBF2-3DE9-4B30-BC43-C2099D3A45B0}" dt="2026-09-26T10:34:25.640" v="213" actId="20577"/>
      <pc:docMkLst>
        <pc:docMk/>
      </pc:docMkLst>
      <pc:sldChg chg="modSp mod">
        <pc:chgData name="Shaikh Amaan" userId="a8b21c8d22220733" providerId="LiveId" clId="{59A7FBF2-3DE9-4B30-BC43-C2099D3A45B0}" dt="2026-09-22T17:32:29.254" v="16" actId="20577"/>
        <pc:sldMkLst>
          <pc:docMk/>
          <pc:sldMk cId="0" sldId="256"/>
        </pc:sldMkLst>
        <pc:spChg chg="mod">
          <ac:chgData name="Shaikh Amaan" userId="a8b21c8d22220733" providerId="LiveId" clId="{59A7FBF2-3DE9-4B30-BC43-C2099D3A45B0}" dt="2026-09-22T17:32:29.254" v="16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6T10:34:25.640" v="213" actId="20577"/>
        <pc:sldMkLst>
          <pc:docMk/>
          <pc:sldMk cId="0" sldId="257"/>
        </pc:sldMkLst>
        <pc:spChg chg="mod">
          <ac:chgData name="Shaikh Amaan" userId="a8b21c8d22220733" providerId="LiveId" clId="{59A7FBF2-3DE9-4B30-BC43-C2099D3A45B0}" dt="2026-09-22T17:32:48.953" v="18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aikh Amaan" userId="a8b21c8d22220733" providerId="LiveId" clId="{59A7FBF2-3DE9-4B30-BC43-C2099D3A45B0}" dt="2026-09-22T17:33:02.624" v="23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haikh Amaan" userId="a8b21c8d22220733" providerId="LiveId" clId="{59A7FBF2-3DE9-4B30-BC43-C2099D3A45B0}" dt="2026-09-26T10:34:25.640" v="213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11:34.442" v="73" actId="20577"/>
        <pc:sldMkLst>
          <pc:docMk/>
          <pc:sldMk cId="0" sldId="259"/>
        </pc:sldMkLst>
        <pc:spChg chg="mod">
          <ac:chgData name="Shaikh Amaan" userId="a8b21c8d22220733" providerId="LiveId" clId="{59A7FBF2-3DE9-4B30-BC43-C2099D3A45B0}" dt="2026-09-25T13:10:06.280" v="59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aikh Amaan" userId="a8b21c8d22220733" providerId="LiveId" clId="{59A7FBF2-3DE9-4B30-BC43-C2099D3A45B0}" dt="2026-09-22T17:34:46.550" v="34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11:34.442" v="73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09:08.747" v="48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09:52.417" v="58" actId="20577"/>
          <ac:spMkLst>
            <pc:docMk/>
            <pc:sldMk cId="0" sldId="259"/>
            <ac:spMk id="29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0:15.821" v="84" actId="20577"/>
        <pc:sldMkLst>
          <pc:docMk/>
          <pc:sldMk cId="0" sldId="260"/>
        </pc:sldMkLst>
        <pc:spChg chg="mod">
          <ac:chgData name="Shaikh Amaan" userId="a8b21c8d22220733" providerId="LiveId" clId="{59A7FBF2-3DE9-4B30-BC43-C2099D3A45B0}" dt="2026-09-22T17:34:39.287" v="32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12:17.954" v="81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aikh Amaan" userId="a8b21c8d22220733" providerId="LiveId" clId="{59A7FBF2-3DE9-4B30-BC43-C2099D3A45B0}" dt="2026-09-22T17:34:55.085" v="37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0:15.821" v="84" actId="20577"/>
          <ac:spMkLst>
            <pc:docMk/>
            <pc:sldMk cId="0" sldId="260"/>
            <ac:spMk id="39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1:35.677" v="128" actId="20577"/>
        <pc:sldMkLst>
          <pc:docMk/>
          <pc:sldMk cId="0" sldId="261"/>
        </pc:sldMkLst>
        <pc:spChg chg="mod">
          <ac:chgData name="Shaikh Amaan" userId="a8b21c8d22220733" providerId="LiveId" clId="{59A7FBF2-3DE9-4B30-BC43-C2099D3A45B0}" dt="2026-09-25T13:20:50.075" v="115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1:35.677" v="128" actId="20577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3:20.506" v="156" actId="20577"/>
        <pc:sldMkLst>
          <pc:docMk/>
          <pc:sldMk cId="0" sldId="262"/>
        </pc:sldMkLst>
        <pc:spChg chg="mod">
          <ac:chgData name="Shaikh Amaan" userId="a8b21c8d22220733" providerId="LiveId" clId="{59A7FBF2-3DE9-4B30-BC43-C2099D3A45B0}" dt="2026-09-25T13:22:08.568" v="129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2:59.694" v="148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3:06.619" v="150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3:20.506" v="156" actId="20577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4:31.835" v="171" actId="20577"/>
        <pc:sldMkLst>
          <pc:docMk/>
          <pc:sldMk cId="0" sldId="263"/>
        </pc:sldMkLst>
        <pc:spChg chg="mod">
          <ac:chgData name="Shaikh Amaan" userId="a8b21c8d22220733" providerId="LiveId" clId="{59A7FBF2-3DE9-4B30-BC43-C2099D3A45B0}" dt="2026-09-25T13:24:14.644" v="167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4:31.835" v="171" actId="20577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5:53.250" v="207" actId="20577"/>
        <pc:sldMkLst>
          <pc:docMk/>
          <pc:sldMk cId="0" sldId="264"/>
        </pc:sldMkLst>
        <pc:spChg chg="mod">
          <ac:chgData name="Shaikh Amaan" userId="a8b21c8d22220733" providerId="LiveId" clId="{59A7FBF2-3DE9-4B30-BC43-C2099D3A45B0}" dt="2026-09-25T13:25:53.250" v="207" actId="20577"/>
          <ac:spMkLst>
            <pc:docMk/>
            <pc:sldMk cId="0" sldId="264"/>
            <ac:spMk id="32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7:13.266" v="210" actId="20577"/>
        <pc:sldMkLst>
          <pc:docMk/>
          <pc:sldMk cId="0" sldId="265"/>
        </pc:sldMkLst>
        <pc:spChg chg="mod">
          <ac:chgData name="Shaikh Amaan" userId="a8b21c8d22220733" providerId="LiveId" clId="{59A7FBF2-3DE9-4B30-BC43-C2099D3A45B0}" dt="2026-09-25T13:26:57.903" v="208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haikh Amaan" userId="a8b21c8d22220733" providerId="LiveId" clId="{59A7FBF2-3DE9-4B30-BC43-C2099D3A45B0}" dt="2026-09-25T13:27:13.266" v="210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haikh Amaan" userId="a8b21c8d22220733" providerId="LiveId" clId="{59A7FBF2-3DE9-4B30-BC43-C2099D3A45B0}" dt="2026-09-22T17:36:35.753" v="41" actId="20577"/>
          <ac:spMkLst>
            <pc:docMk/>
            <pc:sldMk cId="0" sldId="265"/>
            <ac:spMk id="33" creationId="{00000000-0000-0000-0000-000000000000}"/>
          </ac:spMkLst>
        </pc:spChg>
      </pc:sldChg>
      <pc:sldChg chg="modSp mod">
        <pc:chgData name="Shaikh Amaan" userId="a8b21c8d22220733" providerId="LiveId" clId="{59A7FBF2-3DE9-4B30-BC43-C2099D3A45B0}" dt="2026-09-25T13:28:34.129" v="211" actId="20577"/>
        <pc:sldMkLst>
          <pc:docMk/>
          <pc:sldMk cId="0" sldId="266"/>
        </pc:sldMkLst>
        <pc:spChg chg="mod">
          <ac:chgData name="Shaikh Amaan" userId="a8b21c8d22220733" providerId="LiveId" clId="{59A7FBF2-3DE9-4B30-BC43-C2099D3A45B0}" dt="2026-09-25T13:28:34.129" v="211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55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051560"/>
            <a:ext cx="1243584" cy="12435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450592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FOR STARTUPS  ·  BUILDERS PITCH FEST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" y="27889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Enver AI Tech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340156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Artificer - MVP.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87568" y="3913632"/>
            <a:ext cx="822960" cy="16459"/>
          </a:xfrm>
          <a:prstGeom prst="rect">
            <a:avLst/>
          </a:prstGeom>
          <a:solidFill>
            <a:srgbClr val="D4C08A"/>
          </a:solidFill>
          <a:ln w="12700">
            <a:solidFill>
              <a:srgbClr val="D4C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011680" y="40965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that can show its working — for the MSMEs bureaus cannot see.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59893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 U47190MH2023PTC402519   ·   GSTIN 27AAHCE5539J1ZA   ·   DIPP193082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 —  THE PEOPLE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Eleven engineers. Different AI domains. One firm.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5623560" cy="1572768"/>
          </a:xfrm>
          <a:prstGeom prst="roundRect">
            <a:avLst>
              <a:gd name="adj" fmla="val 3488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30352" y="1389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FOUNDER, CEO  ·  APPLIED AI 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" y="15910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Amaan Shaikh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30352" y="19385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the Artificer agent fleet on Vertex / Gemini — ingestion, grounded scoring, the XAI drawer, and the GCP organisation it already runs 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1298448"/>
            <a:ext cx="5623560" cy="1572768"/>
          </a:xfrm>
          <a:prstGeom prst="roundRect">
            <a:avLst>
              <a:gd name="adj" fmla="val 3488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36792" y="1389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CO-FOUNDER &amp; DIRECTOR  ·  DIN 10154247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36792" y="15910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Needa Kaiser Shaikh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36792" y="1938528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Governance, security posture, and the AI monitoring / evaluation </a:t>
            </a:r>
            <a:r>
              <a:rPr lang="en-US" sz="1300" dirty="0" err="1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layer.DPIIT-recognised</a:t>
            </a: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entity.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035808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12064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2064" y="33284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Multi-agent systems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2064" y="356616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Four-agent fleet. Ingest, score, explain, lock.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24528" y="3035808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370832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370832" y="33284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Document intelligence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70832" y="356616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Indian bank PDFs, GST challans, statement layouts.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83296" y="3035808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229600" y="3127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332841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Quantitative telemetry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229600" y="3566160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Deterministic financial ratios — math in code, not in the model.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5760" y="4114800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12064" y="4206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12064" y="440740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Vertex AI / GCP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12064" y="46451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grounded scoring on the organisation already live.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224528" y="4114800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370832" y="4206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370832" y="440740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Product cockpit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370832" y="46451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Officer workbench. Google SSO after CX.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83296" y="4114800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229600" y="4206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229600" y="440740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MSME credit domain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229600" y="464515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NTC cash-flow underwriting. SL / RB / XAI language.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65760" y="5193792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512064" y="5285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12064" y="548640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Guardrails &amp; XAI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12064" y="572414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 rails, citation-led, temperature-0 scoring.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224528" y="5193792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370832" y="5285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370832" y="548640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India Stack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4370832" y="572414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GSTN, Account Aggregator, Sahamati, MCA, e-Courts.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8083296" y="5193792"/>
            <a:ext cx="3703320" cy="987552"/>
          </a:xfrm>
          <a:prstGeom prst="roundRect">
            <a:avLst>
              <a:gd name="adj" fmla="val 555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8229600" y="52852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229600" y="548640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SecOps &amp; evaluation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229600" y="5724144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monitoring, inactivity sentinel, Slack SecOps.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691640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did not start in credit.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1272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Credit found the work.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687568" y="3913632"/>
            <a:ext cx="822960" cy="16459"/>
          </a:xfrm>
          <a:prstGeom prst="rect">
            <a:avLst/>
          </a:prstGeom>
          <a:solidFill>
            <a:srgbClr val="D4C08A"/>
          </a:solidFill>
          <a:ln w="12700">
            <a:solidFill>
              <a:srgbClr val="D4C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920240" y="4160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is Enver’s production MVP: an autonomous underwriting citadel for New-to-Credit MSMEs.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 —  THE PROBLEM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70% of New-to-Credit MSMEs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are rejected on an empty bureau.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366760" y="804672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531352" y="896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$30B+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31352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MSME credit deficit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1764792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531352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531352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NTC files rejected by bureau scoring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66760" y="2724912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531352" y="2816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3–5 days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31352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TAT vs 105 seconds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767328"/>
            <a:ext cx="5623560" cy="1152144"/>
          </a:xfrm>
          <a:prstGeom prst="roundRect">
            <a:avLst>
              <a:gd name="adj" fmla="val 476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6928" y="3895344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book is real. The bureau is empty.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66928" y="4206240"/>
            <a:ext cx="523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63M MSMEs · ~30% of GDP · 30 Lakh Crore credit gap-(RBI / IFC). CIBIL needs a repayment history these firms do not have — even when cash flow is real.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3767328"/>
            <a:ext cx="5623560" cy="1152144"/>
          </a:xfrm>
          <a:prstGeom prst="roundRect">
            <a:avLst>
              <a:gd name="adj" fmla="val 476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373368" y="3895344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Officers still line-read the file.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73368" y="4206240"/>
            <a:ext cx="523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100+ page statements. 3–5 days. $80–$110 a file. TAT the borrower cannot survive and the bank cannot scale.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5760" y="5029200"/>
            <a:ext cx="5623560" cy="1152144"/>
          </a:xfrm>
          <a:prstGeom prst="roundRect">
            <a:avLst>
              <a:gd name="adj" fmla="val 476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66928" y="515721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Fraud the eye misses.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66928" y="5468112"/>
            <a:ext cx="523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Circular trading, spoofed PDFs, GSTR-1 vs GSTR-3B gaps. The document looks clean. The ledger is not.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72200" y="5029200"/>
            <a:ext cx="5623560" cy="1152144"/>
          </a:xfrm>
          <a:prstGeom prst="roundRect">
            <a:avLst>
              <a:gd name="adj" fmla="val 476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373368" y="515721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Black-box scores are now non-compliant.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73368" y="5468112"/>
            <a:ext cx="5230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RBI Digital Lending Guidelines forbid unexplained declines. Every no needs a reason the officer can stand behind.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 —  THE WORKING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credit file in 105 seconds. With the working shown.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12064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2064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Bank statements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2064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PDF / PSV · Indian layouts - the parsers already know.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298448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438144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38144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GST returns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38144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GSTR-1 vs GSTR-3B tax-gap check, not a screenshot.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1298448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364224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64224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Account Aggregator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64224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Consented cash-flow. Sahamati-ready rails.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44000" y="1298448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290304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90304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Public registries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290304" y="19385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MCA / CIN sets, invoices, anomaly flags.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2889504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12064" y="30358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&lt;105s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512064" y="3547872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SSE-streamed TAT vs 3–5 days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91840" y="2889504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438144" y="30358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300–900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3438144" y="3547872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score band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217920" y="2889504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364224" y="30358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pillars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6364224" y="3547872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Liquidity · revenue · stability · leverage · behaviour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144000" y="2889504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9290304" y="30358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$0.02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9290304" y="3547872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cost per file vs $80–$150 manual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65760" y="4480560"/>
            <a:ext cx="11430000" cy="1783080"/>
          </a:xfrm>
          <a:prstGeom prst="roundRect">
            <a:avLst>
              <a:gd name="adj" fmla="val 307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566928" y="460857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the officer actually gets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66928" y="4901184"/>
            <a:ext cx="11064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LOW / MED / HIGH health score with the five pillars opened. Citations back to the line in the statement or the GST return. Schema rails so the model cannot invent a ratio. Temperature-0 scoring. The file that used to take a week in a drawer- the officer can audit in a sitting.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 —  THE SYSTEM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RLHF agents. Then System-1.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13385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Math is the model. The LLM is the reader.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65760" y="1572768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30352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  INGEST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" y="212140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the Indian layouts. Bank PDF, PSV, GSTR, AA payload. Pages that look scanned still become a ledger.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572768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456432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  GROUND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56432" y="212140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figure is pinned to a citation. No orphan number survives into the score.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1572768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382512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  SCORE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82512" y="212140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pillars computed in code. Liquidity, revenue, stability, leverage, behaviour — deterministic.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0" y="1572768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308592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  EXPLAIN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08592" y="2121408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XAI drawer. The officer sees the line, the ratio, the reason. Then the cockpit locks.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4617720"/>
            <a:ext cx="11430000" cy="1645920"/>
          </a:xfrm>
          <a:prstGeom prst="roundRect">
            <a:avLst>
              <a:gd name="adj" fmla="val 3333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66928" y="475488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1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SYSTEM-2  ·  THE COMMITTEE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5029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System-1 Judges. System-2 adjudicates. Alternate data sits like a credit committee — GST gaps, circular-trade flags, registry hits — and only then does the health band move. The model never writes a ratio. Code does.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  —  THE COMMITTEE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Alternate data, like a committee.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1243584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source gets a veto. The file is the argument between them.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170078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1865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1214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Cash-flow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25420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Account Aggregator streams and velocity. What moved, how often, with whom.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24528" y="170078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07408" y="1865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07408" y="21214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Tax spine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07408" y="25420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GSTR-1 vs GSTR-3B. Turnover whether the GSTN attested — or not.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83296" y="170078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266176" y="18653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66176" y="21214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Ledger hygiene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266176" y="254203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Circular trading, related-party loops, spoofed PDF artifacts the eye skips.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65760" y="389534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" y="4059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Registry truth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48640" y="473659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MCA, CIN, e-Courts. The firm that exists on paper versus the firm on files.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224528" y="389534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07408" y="4059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407408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Behaviour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407408" y="473659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Seasonality, bounce patterns, concentration. Stability the bureau never saw.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83296" y="3895344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8266176" y="40599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66176" y="43159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Policy rail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8266176" y="4736592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RBI Digital Lending language. A decline that can be written down, not waved at.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06  —  THE COCKPIT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number is a line. Then the cockpit locks.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1389888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15361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Cite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1600" y="18653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ratio points at the statement line, the GST cell, the AA transaction. If it cannot point, it does not score.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65760" y="2560320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66928" y="2889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71600" y="27066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Show the working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71600" y="3035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XAI drawer opens the chain: extract → compute → band. The officer does not have to trust a black box the RBI already banned.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5760" y="3730752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66928" y="40599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71600" y="387705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Lock the file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7160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Once the committee settles, the cockpit freezes the evaluation. Audit trail, timestamps, model version. No quiet rewrite after the fact.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65760" y="4901184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66928" y="5230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50474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Hand to the human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71600" y="53766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Credit officers hold the decision. Artificer is the file they used to assemble by hand — finished, cited, and cheap.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07  —  TRACTION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Bootstrapped. Recognised. Shipping the MVP.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" y="155448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MAY 2023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" y="1828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Incorporated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66928" y="230428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ENVER-AITECH INDIA PVT LTD · CIN U47190MH2023PTC402519 · GSTIN 27AAHCE5539J1ZA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24528" y="137160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25696" y="155448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FEB 2025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25696" y="1828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DPIIT recognised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425696" y="230428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DIPP193082 — Startup India, valid through 2033. Domain: Artificial Intelligence.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83296" y="137160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284464" y="155448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2025–26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84464" y="182880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Institutional incubators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84464" y="230428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FITT IIT Delhi · Jubilant Bhartia Foundation · Hub71 validation workshop.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370332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66928" y="38862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4160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Artificer MVP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66928" y="463600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artificer.enveraitech.in — four-agent cockpit, XAI drawer, Google-auth workbench.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24528" y="370332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425696" y="38862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1,000+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425696" y="4160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Records benchmarked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425696" y="463600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Indian bank statements and GST returns. 99.8% tabular extract · 100% arithmetic (code-grounded).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83296" y="3703320"/>
            <a:ext cx="3703320" cy="2176272"/>
          </a:xfrm>
          <a:prstGeom prst="roundRect">
            <a:avLst>
              <a:gd name="adj" fmla="val 252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284464" y="3886200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84464" y="4160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Scaling the firm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284464" y="4636008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of 11 and Expanding-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08  —  MARKET &amp;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$1.2B software market on a $530B credit book.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65760" y="1316736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12064" y="14447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$530B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12064" y="19933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Indian MSME commercial credit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316736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438144" y="14447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$1.2B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38144" y="19933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Underwriting software &amp; data ingest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316736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64224" y="14447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$4M ARR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364224" y="19933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4-year target · 3–5% digital origination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144000" y="1316736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290304" y="144475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₹50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290304" y="1993392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 price per evaluation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2907792"/>
            <a:ext cx="5623560" cy="3273552"/>
          </a:xfrm>
          <a:prstGeom prst="roundRect">
            <a:avLst>
              <a:gd name="adj" fmla="val 167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66928" y="307238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34015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Gemini cost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697480" y="34015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~8.0k tokens / file  ·  $0.02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6928" y="4041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Manual review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697480" y="40416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$80–$110 a file  ·  3–5 days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66928" y="4681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Artificer TAT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2697480" y="468172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&lt;55 seconds, streamed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66928" y="5321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Gross on eval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697480" y="5321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₹50 list vs two cents of inference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172200" y="2907792"/>
            <a:ext cx="5623560" cy="3273552"/>
          </a:xfrm>
          <a:prstGeom prst="roundRect">
            <a:avLst>
              <a:gd name="adj" fmla="val 1676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373368" y="307238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 BUYS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73368" y="3401568"/>
            <a:ext cx="523036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Buyers: CRO / CCO, Head of MSME.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Users: Credit Officers.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evaluations plus enterprise licences — not a consumer app. The bank already pays $80–$150 to read the file. We sell the same file, cited, in under a minute.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09  —  WHY GOOGLE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MVP already runs on Vertex.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65760" y="12801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 a slide-ware architecture. The organisation, the model, the SSO, the invoice.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1755648"/>
            <a:ext cx="5623560" cy="1993392"/>
          </a:xfrm>
          <a:prstGeom prst="roundRect">
            <a:avLst>
              <a:gd name="adj" fmla="val 275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21792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Vertex AI / Gemini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1792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Grounded scoring, temperature-0 runs, citation-led. The fleet is already on the project.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1755648"/>
            <a:ext cx="5623560" cy="1993392"/>
          </a:xfrm>
          <a:prstGeom prst="roundRect">
            <a:avLst>
              <a:gd name="adj" fmla="val 275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28232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GCP organisation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28232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company account is live. No greenfield cloud to procure before a pilot can start.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3904488"/>
            <a:ext cx="5623560" cy="1993392"/>
          </a:xfrm>
          <a:prstGeom prst="roundRect">
            <a:avLst>
              <a:gd name="adj" fmla="val 275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21792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Google SSO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1792" y="46360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Officer workbench after CX. The bank’s identity, not another password.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3904488"/>
            <a:ext cx="5623560" cy="1993392"/>
          </a:xfrm>
          <a:prstGeom prst="roundRect">
            <a:avLst>
              <a:gd name="adj" fmla="val 275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28232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Startup programs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28232" y="46360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AI Startup Program · Google Cloud Startup. The relationship is already named.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" y="2560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04672" y="438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 MVP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63840" y="329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5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 —  COMMERCIAL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786384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Credits on the seat. No new cloud to buy.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" y="1371600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03504" y="15179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Evaluation credits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3504" y="184708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Per-file API meter. ₹50 list. The bank pays for the files it actually opens.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65760" y="2542032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03504" y="2688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Enterprise seats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" y="301752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Officer cockpit licences on top of the API. The human who locks the file.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5760" y="3712464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3504" y="3858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Already on the org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3504" y="418795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Vertex project, billing account, IAM — standing. Procurement is a licence, not a migration.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5760" y="4882896"/>
            <a:ext cx="11430000" cy="1060704"/>
          </a:xfrm>
          <a:prstGeom prst="roundRect">
            <a:avLst>
              <a:gd name="adj" fmla="val 5172"/>
            </a:avLst>
          </a:prstGeom>
          <a:solidFill>
            <a:srgbClr val="15201A"/>
          </a:solidFill>
          <a:ln w="9525">
            <a:solidFill>
              <a:srgbClr val="3D4F4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03504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C08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 want from Google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3504" y="535838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Distribution into MSME lenders on GCP, Vertex credits to keep the $0.02 file honest, and the room to put Artificer in front of a CRO.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11"/>
          </a:solidFill>
          <a:ln w="12700">
            <a:solidFill>
              <a:srgbClr val="0D14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6304"/>
            <a:ext cx="11859768" cy="6565392"/>
          </a:xfrm>
          <a:prstGeom prst="rect">
            <a:avLst/>
          </a:prstGeom>
          <a:ln w="7620">
            <a:solidFill>
              <a:srgbClr val="D4C08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workdir/artifacts/assets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9601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212848"/>
            <a:ext cx="9418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GOOGLE FOR STARTUPS  ·  BUILDERS PITCH FEST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25420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3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Enver AI Tech. Artificer is the MVP.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687568" y="3127248"/>
            <a:ext cx="822960" cy="16459"/>
          </a:xfrm>
          <a:prstGeom prst="rect">
            <a:avLst/>
          </a:prstGeom>
          <a:solidFill>
            <a:srgbClr val="D4C08A"/>
          </a:solidFill>
          <a:ln w="12700">
            <a:solidFill>
              <a:srgbClr val="D4C0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828800" y="3273552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3AFA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Gemini that can show its working — for the MSMEs bureaus cannot see.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3913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55448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artificer.enveraitech.in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3913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enveraitech.com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0" y="3913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40" dirty="0">
                <a:solidFill>
                  <a:srgbClr val="D4C0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EEE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hanabi@enveraitech.com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475488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CIN U47190MH2023PTC402519   ·   GSTIN 27AAHCE5539J1ZA   ·   DIPP193082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72" y="64739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1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ENVER AI TECH  ·  CONFIDENTIAL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241280" y="6473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A7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1683</Words>
  <Application>Microsoft Office PowerPoint</Application>
  <PresentationFormat>Widescreen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Playfair Display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ENVER-AITECH INDIA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Enver AI Tech — Artificer | Google for Startups Pitch</dc:title>
  <dc:subject>Artificer MVP — agentic MSME underwriting on Vertex / Gemini</dc:subject>
  <dc:creator>Enver AI Tech</dc:creator>
  <cp:lastModifiedBy>Shaikh Amaan</cp:lastModifiedBy>
  <cp:revision>1</cp:revision>
  <dcterms:created xsi:type="dcterms:W3CDTF">2026-09-22T15:02:45Z</dcterms:created>
  <dcterms:modified xsi:type="dcterms:W3CDTF">2026-09-26T10:34:32Z</dcterms:modified>
</cp:coreProperties>
</file>